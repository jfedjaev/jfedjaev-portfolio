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A1628"/>
                </a:solidFill>
                <a:latin typeface="Calibri"/>
              </a:defRPr>
            </a:pPr>
            <a:r>
              <a:t>Juri Fedjaev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84B"/>
                </a:solidFill>
                <a:latin typeface="Calibri"/>
              </a:defRPr>
            </a:pPr>
            <a:r>
              <a:t>Strategic Leadership for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1828800" cy="254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800">
                <a:solidFill>
                  <a:srgbClr val="6B7280"/>
                </a:solidFill>
                <a:latin typeface="Calibri"/>
              </a:defRPr>
            </a:pPr>
            <a:r>
              <a:t>Autonomous Mobility | AI &amp; Data | BCI &amp; Neurotechnology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400">
                <a:solidFill>
                  <a:srgbClr val="9CA3A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628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>
                <a:solidFill>
                  <a:srgbClr val="6B7280"/>
                </a:solidFill>
                <a:latin typeface="Calibri"/>
              </a:defRPr>
            </a:pPr>
            <a:r>
              <a:t>Warum Technologie-Transformationen scheitern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8100" cy="109728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Strategie-Execution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>
                <a:solidFill>
                  <a:srgbClr val="374151"/>
                </a:solidFill>
                <a:latin typeface="Calibri"/>
              </a:defRPr>
            </a:pPr>
            <a:r>
              <a:t>85% der Digitalisierungsprojekte erreichen ihre Ziele nicht aufgrund fehlender operativer Exzellenz und fragmentierter Governance.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40"/>
            <a:ext cx="38100" cy="109728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49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Talent &amp; Skalierung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>
                <a:solidFill>
                  <a:srgbClr val="374151"/>
                </a:solidFill>
                <a:latin typeface="Calibri"/>
              </a:defRPr>
            </a:pPr>
            <a:r>
              <a:t>Der Mangel an erfahrenen Technologie-Führungskräften bremst Innovation aus. Recruiting dauert 6-12 Monate – zu lang für agile Märkte.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212080"/>
            <a:ext cx="38100" cy="109728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Komplexitäts-Überlastung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>
                <a:solidFill>
                  <a:srgbClr val="374151"/>
                </a:solidFill>
                <a:latin typeface="Calibri"/>
              </a:defRPr>
            </a:pPr>
            <a:r>
              <a:t>AI, Data, Cloud, Autonomy: Die technologische Komplexität überfordert bestehende Strukturen. Schnelle, fundierte Entscheidungen sind kritisch.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400">
                <a:solidFill>
                  <a:srgbClr val="9CA3A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628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>
                <a:solidFill>
                  <a:srgbClr val="6B7280"/>
                </a:solidFill>
                <a:latin typeface="Calibri"/>
              </a:defRPr>
            </a:pPr>
            <a:r>
              <a:t>Drei Service-Pakete für transformative Technologie-Führung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474720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628"/>
                </a:solidFill>
                <a:latin typeface="Calibri"/>
              </a:defRPr>
            </a:pPr>
            <a:r>
              <a:t>Strategy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84B"/>
                </a:solidFill>
                <a:latin typeface="Calibri"/>
              </a:defRPr>
            </a:pPr>
            <a:r>
              <a:t>€8,500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Calibri"/>
              </a:defRPr>
            </a:pPr>
            <a:r>
              <a:t>Fixpreis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74151"/>
                </a:solidFill>
                <a:latin typeface="Calibri"/>
              </a:defRPr>
            </a:pPr>
            <a:r>
              <a:t>2-Wochen intensiver Strategie-Workshop mit aktionablem Roadmap-Deliverable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194560"/>
            <a:ext cx="3474720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628"/>
                </a:solidFill>
                <a:latin typeface="Calibri"/>
              </a:defRPr>
            </a:pPr>
            <a:r>
              <a:t>Transformation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1089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84B"/>
                </a:solidFill>
                <a:latin typeface="Calibri"/>
              </a:defRPr>
            </a:pPr>
            <a:r>
              <a:t>€15K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5661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Calibri"/>
              </a:defRPr>
            </a:pPr>
            <a:r>
              <a:t>/Monat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114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74151"/>
                </a:solidFill>
                <a:latin typeface="Calibri"/>
              </a:defRPr>
            </a:pPr>
            <a:r>
              <a:t>Flexibler Retainer für kontinuierliche strategische Beratung und Program-Leadership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219456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2194560"/>
            <a:ext cx="3474720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9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628"/>
                </a:solidFill>
                <a:latin typeface="Calibri"/>
              </a:defRPr>
            </a:pPr>
            <a:r>
              <a:t>COO-as-a-Service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31089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84B"/>
                </a:solidFill>
                <a:latin typeface="Calibri"/>
              </a:defRPr>
            </a:pPr>
            <a:r>
              <a:t>€25K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35661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Calibri"/>
              </a:defRPr>
            </a:pPr>
            <a:r>
              <a:t>/Monat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4114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74151"/>
                </a:solidFill>
                <a:latin typeface="Calibri"/>
              </a:defRPr>
            </a:pPr>
            <a:r>
              <a:t>Vollständige operative Führung Ihrer Technologie-Organisation auf Interims-Basis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400">
                <a:solidFill>
                  <a:srgbClr val="9CA3A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628"/>
                </a:solidFill>
                <a:latin typeface="Calibri"/>
              </a:defRPr>
            </a:pPr>
            <a:r>
              <a:t>About Juri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Former Head of Program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>
                <a:solidFill>
                  <a:srgbClr val="D4A84B"/>
                </a:solidFill>
                <a:latin typeface="Calibri"/>
              </a:defRPr>
            </a:pPr>
            <a:r>
              <a:t>Volkswagen Autonomous Mobility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029200" cy="347472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84B"/>
                </a:solidFill>
                <a:latin typeface="Calibri"/>
              </a:defRPr>
            </a:pPr>
            <a:r>
              <a:t>Track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€1.9B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5478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Calibri"/>
              </a:defRPr>
            </a:pPr>
            <a:r>
              <a:t>Program Value Managed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0→100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18795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Calibri"/>
              </a:defRPr>
            </a:pPr>
            <a:r>
              <a:t>Team Built from Scratch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200TB+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82803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Calibri"/>
              </a:defRPr>
            </a:pPr>
            <a:r>
              <a:t>Data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46811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Calibri"/>
              </a:defRPr>
            </a:pPr>
            <a:r>
              <a:t>ML Models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Expertise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267712"/>
            <a:ext cx="76200" cy="762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194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Autonomous Vehicle Development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724912"/>
            <a:ext cx="76200" cy="762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AI/ML Product Strategy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3182112"/>
            <a:ext cx="76200" cy="762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108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Data Infrastructure &amp; Platforms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3639312"/>
            <a:ext cx="76200" cy="762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Program &amp; Portfolio Management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4096512"/>
            <a:ext cx="76200" cy="762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023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Go-to-Market &amp; Commercialization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553712"/>
            <a:ext cx="76200" cy="762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480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Cross-functional Team Leadership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400">
                <a:solidFill>
                  <a:srgbClr val="9CA3A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628"/>
                </a:solidFill>
                <a:latin typeface="Calibri"/>
              </a:defRPr>
            </a:pPr>
            <a:r>
              <a:t>Strategy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>
                <a:solidFill>
                  <a:srgbClr val="6B7280"/>
                </a:solidFill>
                <a:latin typeface="Calibri"/>
              </a:defRPr>
            </a:pPr>
            <a:r>
              <a:t>Intensive Strategie- und Potentialanalyse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280160"/>
            <a:ext cx="3657600" cy="1097280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€8,500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Fixpreis, einmalig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828800" cy="36576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 Wochen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72491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Aktueller State-of-Technology 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27355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Stakeholder Interviews &amp; Alignment Analysis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82219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Technologie-Roadmap &amp; Priorisierung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37083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Resource Gap Analysis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91947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Actionable Deliverable: 90-Tage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400">
                <a:solidFill>
                  <a:srgbClr val="9CA3A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628"/>
                </a:solidFill>
                <a:latin typeface="Calibri"/>
              </a:defRPr>
            </a:pPr>
            <a:r>
              <a:t>Transformation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>
                <a:solidFill>
                  <a:srgbClr val="6B7280"/>
                </a:solidFill>
                <a:latin typeface="Calibri"/>
              </a:defRPr>
            </a:pPr>
            <a:r>
              <a:t>Kontinuierliche strategische Beratung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280160"/>
            <a:ext cx="3657600" cy="1097280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€15,000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/Monat, 3-Monate Minimum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828800" cy="36576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Retainer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72491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Wöchentliche Strategy Sessions (4h)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27355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Unbegrenzte async Beratung (Slack/Email)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82219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Program Review &amp; Health Checks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37083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Executive Reporting &amp; Board Prep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91947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Vendor &amp; Partner Evaluation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400">
                <a:solidFill>
                  <a:srgbClr val="9CA3A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628"/>
                </a:solidFill>
                <a:latin typeface="Calibri"/>
              </a:defRPr>
            </a:pPr>
            <a:r>
              <a:t>COO-as-a-Service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>
                <a:solidFill>
                  <a:srgbClr val="6B7280"/>
                </a:solidFill>
                <a:latin typeface="Calibri"/>
              </a:defRPr>
            </a:pPr>
            <a:r>
              <a:t>Vollständige operative Technologie-Führung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280160"/>
            <a:ext cx="3657600" cy="1097280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€25,000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/Monat, 6-Monate Minimum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828800" cy="36576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Retainer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72491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2-3 Tage/Woche vor Ort/Remote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27355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Team Leadership &amp; Performance Management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82219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Budget Ownership &amp; P&amp;L Responsibility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37083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Cross-functional Alignment &amp; Execution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919472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Calibri"/>
              </a:defRPr>
            </a:pPr>
            <a:r>
              <a:t>Investor/Board Reporting &amp; Communication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400">
                <a:solidFill>
                  <a:srgbClr val="9CA3A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628"/>
                </a:solidFill>
                <a:latin typeface="Calibri"/>
              </a:defRPr>
            </a:pPr>
            <a:r>
              <a:t>Why Retainer?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>
                <a:solidFill>
                  <a:srgbClr val="6B7280"/>
                </a:solidFill>
                <a:latin typeface="Calibri"/>
              </a:defRPr>
            </a:pPr>
            <a:r>
              <a:t>Warum Retainer statt klassischer Projekt-Business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91C1C"/>
                </a:solidFill>
                <a:latin typeface="Calibri"/>
              </a:defRPr>
            </a:pPr>
            <a:r>
              <a:t>❌ Traditionelle Projekte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  <a:latin typeface="Calibri"/>
              </a:defRPr>
            </a:pPr>
            <a:r>
              <a:t>• Lange Pitch-Phasen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  <a:latin typeface="Calibri"/>
              </a:defRPr>
            </a:pPr>
            <a:r>
              <a:t>• Unsichere Verfügbarkeit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  <a:latin typeface="Calibri"/>
              </a:defRPr>
            </a:pPr>
            <a:r>
              <a:t>• Kontext-Verlust zwischen Projekten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  <a:latin typeface="Calibri"/>
              </a:defRPr>
            </a:pPr>
            <a:r>
              <a:t>• Hohe Transaktionskosten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  <a:latin typeface="Calibri"/>
              </a:defRPr>
            </a:pPr>
            <a:r>
              <a:t>• Reaktive statt proaktive Beratung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803D"/>
                </a:solidFill>
                <a:latin typeface="Calibri"/>
              </a:defRPr>
            </a:pPr>
            <a:r>
              <a:t>✓ Retainer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8346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  <a:latin typeface="Calibri"/>
              </a:defRPr>
            </a:pPr>
            <a:r>
              <a:t>• Sofortige Verfügbarkeit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83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  <a:latin typeface="Calibri"/>
              </a:defRPr>
            </a:pPr>
            <a:r>
              <a:t>• Kontinuierlicher Kontext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931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  <a:latin typeface="Calibri"/>
              </a:defRPr>
            </a:pPr>
            <a:r>
              <a:t>• Proaktive Strategie-Entwicklung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480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  <a:latin typeface="Calibri"/>
              </a:defRPr>
            </a:pPr>
            <a:r>
              <a:t>• Predictable Kosten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029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151"/>
                </a:solidFill>
                <a:latin typeface="Calibri"/>
              </a:defRPr>
            </a:pPr>
            <a:r>
              <a:t>• Langfristige Partnerschaft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400">
                <a:solidFill>
                  <a:srgbClr val="9CA3A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628"/>
                </a:solidFill>
                <a:latin typeface="Calibri"/>
              </a:defRPr>
            </a:pPr>
            <a:r>
              <a:t>Investment &amp;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>
                <a:solidFill>
                  <a:srgbClr val="6B7280"/>
                </a:solidFill>
                <a:latin typeface="Calibri"/>
              </a:defRPr>
            </a:pPr>
            <a:r>
              <a:t>Transparenter Benchmark zu Marktpreisen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201168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4A84B"/>
                </a:solidFill>
                <a:latin typeface="Calibri"/>
              </a:defRPr>
            </a:pPr>
            <a:r>
              <a:t>Tagesrate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€2,200 – €3,500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Calibri"/>
              </a:defRPr>
            </a:pPr>
            <a:r>
              <a:t>Benchmark: Big-4 Senior Partner / Tech CXO Interim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1628"/>
                </a:solidFill>
                <a:latin typeface="Calibri"/>
              </a:defRPr>
            </a:pPr>
            <a:r>
              <a:t>vs. Festanstellung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74151"/>
                </a:solidFill>
                <a:latin typeface="Calibri"/>
              </a:defRPr>
            </a:pPr>
            <a:r>
              <a:t>Bei voller Auslastung entspricht dies einer Jahresvergütung von €400K–€600K inkl. Benefits &amp; Risk. Der Unterschied: Flexibilität, kein Einstellungsrisiko, sofortige Expertise.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698480" cy="2103120"/>
          </a:xfrm>
          <a:prstGeom prst="roundRect">
            <a:avLst/>
          </a:prstGeom>
          <a:solidFill>
            <a:srgbClr val="FFFBEB"/>
          </a:solidFill>
          <a:ln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84B"/>
                </a:solidFill>
                <a:latin typeface="Calibri"/>
              </a:defRPr>
            </a:pPr>
            <a:r>
              <a:t>Value Multiplier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74151"/>
                </a:solidFill>
                <a:latin typeface="Calibri"/>
              </a:defRPr>
            </a:pPr>
            <a:r>
              <a:t>Eine Stunde strategischer Beratung kann Entscheidungen mit Millionen-Euro-Impact beeinflussen. Die richtige Entscheidung zum richtigen Zeitpunkt amortisiert die Investition oft innerhalb weniger Wochen.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400">
                <a:solidFill>
                  <a:srgbClr val="9CA3A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628"/>
                </a:solidFill>
                <a:latin typeface="Calibri"/>
              </a:defRPr>
            </a:pPr>
            <a:r>
              <a:t>ROI &amp;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>
                <a:solidFill>
                  <a:srgbClr val="6B7280"/>
                </a:solidFill>
                <a:latin typeface="Calibri"/>
              </a:defRPr>
            </a:pPr>
            <a:r>
              <a:t>Quantifizierter Nutzen durch strategische Technologie-Führung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84B"/>
                </a:solidFill>
                <a:latin typeface="Calibri"/>
              </a:defRPr>
            </a:pPr>
            <a:r>
              <a:t>CASE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Autonomous Mobility 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84B"/>
                </a:solidFill>
                <a:latin typeface="Calibri"/>
              </a:defRPr>
            </a:pPr>
            <a:r>
              <a:t>€40M+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429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Calibri"/>
              </a:defRPr>
            </a:pPr>
            <a:r>
              <a:t>Kosten gespart durch frühzeitige Scope-Entscheidungen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84B"/>
                </a:solidFill>
                <a:latin typeface="Calibri"/>
              </a:defRPr>
            </a:pPr>
            <a:r>
              <a:t>8 Monate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251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Calibri"/>
              </a:defRPr>
            </a:pPr>
            <a:r>
              <a:t>Time-to-Market Beschleunigung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84B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074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Calibri"/>
              </a:defRPr>
            </a:pPr>
            <a:r>
              <a:t>Effizienzsteigerung in Program-Governance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Typische ROI-Bereiche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834640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1628"/>
                </a:solidFill>
                <a:latin typeface="Calibri"/>
              </a:defRPr>
            </a:pPr>
            <a:r>
              <a:t>Speed-to-Decision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  <a:r>
              <a:t>Wochen statt Monate für strategische Entscheidungen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3611880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520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1628"/>
                </a:solidFill>
                <a:latin typeface="Calibri"/>
              </a:defRPr>
            </a:pPr>
            <a:r>
              <a:t>Risk Mitigation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  <a:r>
              <a:t>Frühe Identifikation kritischer Blocker und Budget-Risiken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4389120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97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1628"/>
                </a:solidFill>
                <a:latin typeface="Calibri"/>
              </a:defRPr>
            </a:pPr>
            <a:r>
              <a:t>Team Productivity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617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  <a:r>
              <a:t>Klare Prioritäten, reduzierte Kontext-Switches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5166360"/>
            <a:ext cx="101600" cy="1016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5074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1628"/>
                </a:solidFill>
                <a:latin typeface="Calibri"/>
              </a:defRPr>
            </a:pPr>
            <a:r>
              <a:t>Stakeholder 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  <a:latin typeface="Calibri"/>
              </a:defRPr>
            </a:pPr>
            <a:r>
              <a:t>Schnellere Konsensbildung bei komplexen Themen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400">
                <a:solidFill>
                  <a:srgbClr val="9CA3A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1628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>
                <a:solidFill>
                  <a:srgbClr val="6B7280"/>
                </a:solidFill>
                <a:latin typeface="Calibri"/>
              </a:defRPr>
            </a:pPr>
            <a:r>
              <a:t>Von der ersten Kontaktaufnahme zum operativen Impact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1628"/>
                </a:solidFill>
                <a:latin typeface="Calibri"/>
              </a:defRPr>
            </a:pPr>
            <a:r>
              <a:t>Discovery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30-minütiger Austausch zu Ihren Herausforderungen und Zielen. Kein Pitch, reines Verständnis.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46120"/>
            <a:ext cx="548640" cy="54864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7355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1628"/>
                </a:solidFill>
                <a:latin typeface="Calibri"/>
              </a:defRPr>
            </a:pPr>
            <a:r>
              <a:t>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66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Bei Bedarf: 2-tägiger Deep-Dive in Ihre Organisation, Tech-Stack und Strategie.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251960"/>
            <a:ext cx="548640" cy="54864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7939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06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1628"/>
                </a:solidFill>
                <a:latin typeface="Calibri"/>
              </a:defRPr>
            </a:pPr>
            <a:r>
              <a:t>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72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Maßgeschneiderter Service-Vorschlag mit klarem Scope, Timeline und Deliverables.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28523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12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1628"/>
                </a:solidFill>
                <a:latin typeface="Calibri"/>
              </a:defRPr>
            </a:pPr>
            <a:r>
              <a:t>Kick-off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577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Calibri"/>
              </a:defRPr>
            </a:pPr>
            <a:r>
              <a:t>Schneller Start – erste Ergebnisse oft bereits in der ersten Woche sichtbar.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194560"/>
            <a:ext cx="5029200" cy="3931920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46888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Ready to start?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10896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Die besten Technologie-Führungskräfte sind oft gebucht. Sichern Sie sich jetzt Verfügbarkeit für Q1/Q2 2025.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02920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A1628"/>
                </a:solidFill>
                <a:latin typeface="Calibri"/>
              </a:defRPr>
            </a:pPr>
            <a:r>
              <a:t>→ Kontakt aufnehmen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Let's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834640"/>
            <a:ext cx="1828800" cy="25400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00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j.fedjaev@gmail.com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40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linkedin.com/in/jfedjaev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480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Frankfurt &amp; Remote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Calibri"/>
              </a:defRPr>
            </a:pPr>
            <a:r>
              <a:t>Strategic Leadership for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