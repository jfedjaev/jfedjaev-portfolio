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From Strategy to</a:t>
            </a:r>
          </a:p>
          <a:p>
            <a:pPr algn="ctr">
              <a:defRPr sz="4800" b="1">
                <a:solidFill>
                  <a:srgbClr val="FFFFFF"/>
                </a:solidFill>
                <a:latin typeface="Georgia"/>
              </a:defRPr>
            </a:pPr>
            <a:r>
              <a:t>Operational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84B"/>
                </a:solidFill>
              </a:defRPr>
            </a:pPr>
            <a:r>
              <a:t>Premium Consulting for Autonomous Mobility, AI Transformation &amp; Operations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9199"/>
                </a:solidFill>
              </a:defRPr>
            </a:pPr>
            <a:r>
              <a:t>Juri Fedjaev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Why Most Transformations Fail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5568"/>
                </a:solidFill>
              </a:defRPr>
            </a:pPr>
            <a:r>
              <a:t>In a market defined by accelerated technological disruption and intensifying competition, companies do not lack strategic vision—they lack operational excellence in execution.</a:t>
            </a:r>
          </a:p>
          <a:p>
            <a:pPr>
              <a:spcBef>
                <a:spcPts val="1200"/>
              </a:spcBef>
              <a:defRPr sz="1600">
                <a:solidFill>
                  <a:srgbClr val="4A5568"/>
                </a:solidFill>
              </a:defRPr>
            </a:pPr>
            <a:r>
              <a:t>• Strategy without execution remains PowerPoint</a:t>
            </a:r>
          </a:p>
          <a:p>
            <a:pPr>
              <a:spcBef>
                <a:spcPts val="1200"/>
              </a:spcBef>
              <a:defRPr sz="1600">
                <a:solidFill>
                  <a:srgbClr val="4A5568"/>
                </a:solidFill>
              </a:defRPr>
            </a:pPr>
            <a:r>
              <a:t>• Technical complexity outpaces organizational capability</a:t>
            </a:r>
          </a:p>
          <a:p>
            <a:pPr>
              <a:spcBef>
                <a:spcPts val="1200"/>
              </a:spcBef>
              <a:defRPr sz="1600">
                <a:solidFill>
                  <a:srgbClr val="4A5568"/>
                </a:solidFill>
              </a:defRPr>
            </a:pPr>
            <a:r>
              <a:t>• OKRs set but never achieved</a:t>
            </a:r>
          </a:p>
          <a:p>
            <a:pPr>
              <a:spcBef>
                <a:spcPts val="1200"/>
              </a:spcBef>
              <a:defRPr sz="1600">
                <a:solidFill>
                  <a:srgbClr val="4A5568"/>
                </a:solidFill>
              </a:defRPr>
            </a:pPr>
            <a:r>
              <a:t>• Data platforms built, value unrealized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Three Integrated Service Models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2743200"/>
          </a:xfrm>
          <a:prstGeom prst="roundRect">
            <a:avLst/>
          </a:prstGeom>
          <a:solidFill>
            <a:srgbClr val="152238"/>
          </a:solidFill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84B"/>
                </a:solidFill>
              </a:defRPr>
            </a:pPr>
            <a:r>
              <a:t>€8.5K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Strategy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2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2743200"/>
          </a:xfrm>
          <a:prstGeom prst="roundRect">
            <a:avLst/>
          </a:prstGeom>
          <a:solidFill>
            <a:srgbClr val="152238"/>
          </a:solidFill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7432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84B"/>
                </a:solidFill>
              </a:defRPr>
            </a:pPr>
            <a:r>
              <a:t>€15K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840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Transformation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572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Monthly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474720" cy="2743200"/>
          </a:xfrm>
          <a:prstGeom prst="roundRect">
            <a:avLst/>
          </a:prstGeom>
          <a:solidFill>
            <a:srgbClr val="152238"/>
          </a:solidFill>
          <a:ln w="254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84B"/>
                </a:solidFill>
              </a:defRPr>
            </a:pPr>
            <a:r>
              <a:t>€25K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840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COO-as-a-Service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Monthly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Juri Fedjaev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Your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B"/>
                </a:solidFill>
              </a:defRPr>
            </a:pPr>
            <a:r>
              <a:t>Current Role</a:t>
            </a:r>
          </a:p>
          <a:p>
            <a:pPr>
              <a:spcAft>
                <a:spcPts val="1200"/>
              </a:spcAft>
              <a:defRPr sz="1400"/>
            </a:pPr>
            <a:r>
              <a:t>Data Product Lead, Volkswagen Group</a:t>
            </a:r>
          </a:p>
          <a:p>
            <a:pPr>
              <a:defRPr sz="1600" b="1">
                <a:solidFill>
                  <a:srgbClr val="D4A84B"/>
                </a:solidFill>
              </a:defRPr>
            </a:pPr>
            <a:r>
              <a:t>Previous Experience</a:t>
            </a:r>
          </a:p>
          <a:p>
            <a:pPr>
              <a:spcAft>
                <a:spcPts val="400"/>
              </a:spcAft>
              <a:defRPr sz="1400"/>
            </a:pPr>
            <a:r>
              <a:t>• Head of Program Management, VW Autonomous Mobility</a:t>
            </a:r>
          </a:p>
          <a:p>
            <a:pPr>
              <a:spcAft>
                <a:spcPts val="400"/>
              </a:spcAft>
              <a:defRPr sz="1400"/>
            </a:pPr>
            <a:r>
              <a:t>• McKinsey &amp; BCG Talent Programs</a:t>
            </a:r>
          </a:p>
          <a:p>
            <a:pPr>
              <a:spcAft>
                <a:spcPts val="400"/>
              </a:spcAft>
              <a:defRPr sz="1400"/>
            </a:pPr>
            <a:r>
              <a:t>• 10+ Years C-Level Experience</a:t>
            </a:r>
          </a:p>
          <a:p>
            <a:pPr>
              <a:spcBef>
                <a:spcPts val="1200"/>
              </a:spcBef>
              <a:defRPr sz="1600" b="1">
                <a:solidFill>
                  <a:srgbClr val="D4A84B"/>
                </a:solidFill>
              </a:defRPr>
            </a:pPr>
            <a:r>
              <a:t>Education</a:t>
            </a:r>
          </a:p>
          <a:p>
            <a:pPr>
              <a:spcAft>
                <a:spcPts val="400"/>
              </a:spcAft>
              <a:defRPr sz="1400"/>
            </a:pPr>
            <a:r>
              <a:t>• TUM — Engineering</a:t>
            </a:r>
          </a:p>
          <a:p>
            <a:pPr>
              <a:spcAft>
                <a:spcPts val="400"/>
              </a:spcAft>
              <a:defRPr sz="1400"/>
            </a:pPr>
            <a:r>
              <a:t>• Ecole Centrale de Lille</a:t>
            </a:r>
          </a:p>
          <a:p>
            <a:pPr>
              <a:spcAft>
                <a:spcPts val="400"/>
              </a:spcAft>
              <a:defRPr sz="1400"/>
            </a:pPr>
            <a:r>
              <a:t>• College des Ingenieurs — 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84B"/>
                </a:solidFill>
                <a:latin typeface="Georgia"/>
              </a:defRPr>
            </a:pPr>
            <a:r>
              <a:t>€1.9B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A9199"/>
                </a:solidFill>
              </a:defRPr>
            </a:pPr>
            <a:r>
              <a:t>Strategy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0175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84B"/>
                </a:solidFill>
                <a:latin typeface="Georgia"/>
              </a:defRPr>
            </a:pPr>
            <a:r>
              <a:t>0→100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A9199"/>
                </a:solidFill>
              </a:defRPr>
            </a:pPr>
            <a:r>
              <a:t>Vehicle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6634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84B"/>
                </a:solidFill>
                <a:latin typeface="Georgia"/>
              </a:defRPr>
            </a:pPr>
            <a:r>
              <a:t>200TB+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394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A9199"/>
                </a:solidFill>
              </a:defRPr>
            </a:pPr>
            <a:r>
              <a:t>Data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Deep Specialization, Proven Results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Expertise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Program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463040"/>
            <a:ext cx="6400800" cy="27432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463040"/>
            <a:ext cx="6272784" cy="2743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371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Autonomous Mobility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377440"/>
            <a:ext cx="6400800" cy="27432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2377440"/>
            <a:ext cx="6080760" cy="2743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2286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Operations Excellence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91840"/>
            <a:ext cx="6400800" cy="27432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291840"/>
            <a:ext cx="5888736" cy="2743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3200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AI/ML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4206240"/>
            <a:ext cx="6400800" cy="27432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4206240"/>
            <a:ext cx="5760720" cy="2743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Data Platforms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120640"/>
            <a:ext cx="6400800" cy="274320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5120640"/>
            <a:ext cx="5632704" cy="27432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5029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88%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Strategy Assessment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Service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</a:defRPr>
            </a:pPr>
            <a:r>
              <a:t>€8,500</a:t>
            </a:r>
          </a:p>
          <a:p>
            <a:pPr>
              <a:defRPr sz="1100">
                <a:solidFill>
                  <a:srgbClr val="8A9199"/>
                </a:solidFill>
              </a:defRPr>
            </a:pPr>
            <a:r>
              <a:t>one-time fee • 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5568"/>
                </a:solidFill>
              </a:defRPr>
            </a:pPr>
            <a:r>
              <a:t>2-Week Intensive Diagnostic for leadership teams needing rapid strategic clarity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Transformation Partner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Service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</a:defRPr>
            </a:pPr>
            <a:r>
              <a:t>€15,000</a:t>
            </a:r>
          </a:p>
          <a:p>
            <a:pPr>
              <a:defRPr sz="1100">
                <a:solidFill>
                  <a:srgbClr val="8A9199"/>
                </a:solidFill>
              </a:defRPr>
            </a:pPr>
            <a:r>
              <a:t>per month • 3 mo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5568"/>
                </a:solidFill>
              </a:defRPr>
            </a:pPr>
            <a:r>
              <a:t>Ongoing transformation support for companies in transformation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COO-as-a-Service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Service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</a:defRPr>
            </a:pPr>
            <a:r>
              <a:t>€25,000</a:t>
            </a:r>
          </a:p>
          <a:p>
            <a:pPr>
              <a:defRPr sz="1100">
                <a:solidFill>
                  <a:srgbClr val="8A9199"/>
                </a:solidFill>
              </a:defRPr>
            </a:pPr>
            <a:r>
              <a:t>per month • 6 mo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5568"/>
                </a:solidFill>
              </a:defRPr>
            </a:pPr>
            <a:r>
              <a:t>Full operational leadership for scale-ups and transformation companies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The Retainer Advantage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Why Retainer?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199"/>
                </a:solidFill>
              </a:defRPr>
            </a:pPr>
            <a:r>
              <a:t>Fixed monthly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Predictable budgeting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Prioritization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199"/>
                </a:solidFill>
              </a:defRPr>
            </a:pPr>
            <a:r>
              <a:t>Guaranteed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4h 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Strategic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91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199"/>
                </a:solidFill>
              </a:defRPr>
            </a:pPr>
            <a:r>
              <a:t>Continuous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Deep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Proactive 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97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199"/>
                </a:solidFill>
              </a:defRPr>
            </a:pPr>
            <a:r>
              <a:t>Need-based consulting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97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Value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03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199"/>
                </a:solidFill>
              </a:defRPr>
            </a:pPr>
            <a:r>
              <a:t>Adjustable intensity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84B"/>
                </a:solidFill>
              </a:defRPr>
            </a:pPr>
            <a:r>
              <a:t>Flexible commitment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Daily Rate Options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Pricing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628"/>
                </a:solidFill>
              </a:defRPr>
            </a:pPr>
            <a:r>
              <a:t>Senior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84B"/>
                </a:solidFill>
              </a:defRPr>
            </a:pPr>
            <a:r>
              <a:t>€3,500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568"/>
                </a:solidFill>
              </a:defRPr>
            </a:pPr>
            <a:r>
              <a:t>Board meetings, strategy workshops, investor 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628"/>
                </a:solidFill>
              </a:defRPr>
            </a:pPr>
            <a:r>
              <a:t>Execution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175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84B"/>
                </a:solidFill>
              </a:defRPr>
            </a:pPr>
            <a:r>
              <a:t>€2,800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0175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568"/>
                </a:solidFill>
              </a:defRPr>
            </a:pPr>
            <a:r>
              <a:t>Project execution, OKR implementation, process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628"/>
                </a:solidFill>
              </a:defRPr>
            </a:pPr>
            <a:r>
              <a:t>Subject Matter Expert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663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84B"/>
                </a:solidFill>
              </a:defRPr>
            </a:pPr>
            <a:r>
              <a:t>€2,200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5568"/>
                </a:solidFill>
              </a:defRPr>
            </a:pPr>
            <a:r>
              <a:t>Architecture reviews, ML evaluation, due diligence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Quantified Business Value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ROI &amp;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3200400"/>
          </a:xfrm>
          <a:prstGeom prst="roundRect">
            <a:avLst/>
          </a:prstGeom>
          <a:solidFill>
            <a:srgbClr val="15223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Time-to-Value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84B"/>
                </a:solidFill>
                <a:latin typeface="Georgia"/>
              </a:defRPr>
            </a:pPr>
            <a:r>
              <a:t>12→6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3-6x ROI at market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200400"/>
          </a:xfrm>
          <a:prstGeom prst="roundRect">
            <a:avLst/>
          </a:prstGeom>
          <a:solidFill>
            <a:srgbClr val="15223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Opportunity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260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84B"/>
                </a:solidFill>
                <a:latin typeface="Georgia"/>
              </a:defRPr>
            </a:pPr>
            <a:r>
              <a:t>€500K–€2M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840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Architecture errors avoided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474720" cy="3200400"/>
          </a:xfrm>
          <a:prstGeom prst="roundRect">
            <a:avLst/>
          </a:prstGeom>
          <a:solidFill>
            <a:srgbClr val="15223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Scale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84B"/>
                </a:solidFill>
                <a:latin typeface="Georgia"/>
              </a:defRPr>
            </a:pPr>
            <a:r>
              <a:t>30%+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4048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€300K–€1M annually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Case Study: Autonomous Mobility Scale-up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84B"/>
                </a:solidFill>
              </a:defRPr>
            </a:pPr>
            <a:r>
              <a:t>Situation</a:t>
            </a:r>
          </a:p>
          <a:p>
            <a:pPr>
              <a:spcAft>
                <a:spcPts val="1200"/>
              </a:spcAft>
              <a:defRPr sz="1400"/>
            </a:pPr>
            <a:r>
              <a:t>Series-B autonomous trucking startup with operational inefficiencies delaying Series-C readiness.</a:t>
            </a:r>
          </a:p>
          <a:p>
            <a:pPr>
              <a:defRPr sz="1600" b="1">
                <a:solidFill>
                  <a:srgbClr val="D4A84B"/>
                </a:solidFill>
              </a:defRPr>
            </a:pPr>
            <a:r>
              <a:t>Intervention</a:t>
            </a:r>
          </a:p>
          <a:p>
            <a:pPr>
              <a:defRPr sz="1400"/>
            </a:pPr>
            <a:r>
              <a:t>• OKR framework implementation</a:t>
            </a:r>
          </a:p>
          <a:p>
            <a:pPr>
              <a:defRPr sz="1400"/>
            </a:pPr>
            <a:r>
              <a:t>• Data pipeline restructuring</a:t>
            </a:r>
          </a:p>
          <a:p>
            <a:pPr>
              <a:defRPr sz="1400"/>
            </a:pPr>
            <a:r>
              <a:t>• Board reporting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71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</a:defRPr>
            </a:pPr>
            <a: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A9199"/>
                </a:solidFill>
              </a:defRPr>
            </a:pPr>
            <a:r>
              <a:t>Faster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</a:defRPr>
            </a:pPr>
            <a:r>
              <a:t>€25M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A9199"/>
                </a:solidFill>
              </a:defRPr>
            </a:pPr>
            <a:r>
              <a:t>Series-C Raised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</a:defRPr>
            </a:pPr>
            <a:r>
              <a:t>278x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A9199"/>
                </a:solidFill>
              </a:defRPr>
            </a:pPr>
            <a:r>
              <a:t>ROI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628"/>
                </a:solidFill>
                <a:latin typeface="Georgia"/>
              </a:defRPr>
            </a:pPr>
            <a:r>
              <a:t>Next Steps</a:t>
            </a:r>
          </a:p>
          <a:p>
            <a:pPr>
              <a:spcBef>
                <a:spcPts val="600"/>
              </a:spcBef>
              <a:defRPr sz="1400">
                <a:solidFill>
                  <a:srgbClr val="D4A84B"/>
                </a:solidFill>
              </a:defRPr>
            </a:pPr>
            <a:r>
              <a:t>Getting Started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84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Initial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Free 30-minute consultation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84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Scope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Workshop with stakeholders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84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Customization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6616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Tailoring to your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84B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Kick-off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56616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199"/>
                </a:solidFill>
              </a:defRPr>
            </a:pPr>
            <a:r>
              <a:t>Contracts and first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Start the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B"/>
                </a:solidFill>
              </a:defRPr>
            </a:pPr>
            <a:r>
              <a:t>juri@fedjaev.com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B"/>
                </a:solidFill>
              </a:defRPr>
            </a:pPr>
            <a:r>
              <a:t>linkedin.com/in/jurifedjaev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B"/>
                </a:solidFill>
              </a:defRPr>
            </a:pPr>
            <a:r>
              <a:t>fedjaev.com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